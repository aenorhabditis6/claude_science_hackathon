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ShiftScope. You give it two groups of cells, and it measures how they differ, shows where, finds the genes that drive it, and tells you what to test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two groups of cells is the most common question in the field, and it is done by hand. Two things stay hard. Is the difference real and how big, and which of many hits is actually worth testing.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PCA space for both groups. The main metric is the scPerturb energy distance with a permutation test, plus MMD and optimal transport as cross-checks. Leiden clustering with a Fisher test shows where the shift is, and Wilcoxon DE gives the driver genes.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to end on real data. Control versus interferon. E-distance 216, p 0.001. The stimulated cells form their own clusters, the drivers are the known interferon genes, and Claude explains it with every claim tied to a number.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 we think matters most. On Marson's T-cell CRISPR screen, we rank hits by how strong they are and how little they have been studied. Novelty comes from a live PubMed count, and Claude gives a keep or skip call using that real number. Famous genes drop, strong and under-studied genes rise.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clear about limits. We measured detection power by cell number and effect size, over many draws. It is validated across four domains and two real screens, and the distance math follows the scPerturb standard.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ShiftScope turns 'these look different' into 'test this gene next.' Any two cell populations, open source, runs in Colab. Thanks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38"/>
        </a:solidFill>
        <a:effectLst/>
      </p:bgPr>
    </p:bg>
    <p:spTree>
      <p:nvGrpSpPr>
        <p:cNvPr id="1" name=""/>
        <p:cNvGrpSpPr/>
        <p:nvPr/>
      </p:nvGrpSpPr>
      <p:grpSpPr/>
      <p:sp>
        <p:nvSpPr>
          <p:cNvPr id="2" name="Oval 1"/>
          <p:cNvSpPr/>
          <p:nvPr/>
        </p:nvSpPr>
        <p:spPr>
          <a:xfrm>
            <a:off x="8503920" y="914400"/>
            <a:ext cx="2834640" cy="2834640"/>
          </a:xfrm>
          <a:prstGeom prst="ellipse">
            <a:avLst/>
          </a:prstGeom>
          <a:noFill/>
          <a:ln w="317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875520" y="914400"/>
            <a:ext cx="2834640" cy="2834640"/>
          </a:xfrm>
          <a:prstGeom prst="ellipse">
            <a:avLst/>
          </a:prstGeom>
          <a:noFill/>
          <a:ln w="31750">
            <a:solidFill>
              <a:srgbClr val="02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863840" cy="1097280"/>
          </a:xfrm>
          <a:prstGeom prst="rect">
            <a:avLst/>
          </a:prstGeom>
          <a:noFill/>
        </p:spPr>
        <p:txBody>
          <a:bodyPr wrap="square" anchor="t">
            <a:spAutoFit/>
          </a:bodyPr>
          <a:lstStyle/>
          <a:p>
            <a:pPr algn="l">
              <a:spcAft>
                <a:spcPts val="600"/>
              </a:spcAft>
            </a:pPr>
            <a:r>
              <a:rPr sz="5800" b="1" i="0">
                <a:solidFill>
                  <a:srgbClr val="FFFFFF"/>
                </a:solidFill>
                <a:latin typeface="Cambria"/>
              </a:rPr>
              <a:t>ShiftScope</a:t>
            </a:r>
          </a:p>
        </p:txBody>
      </p:sp>
      <p:sp>
        <p:nvSpPr>
          <p:cNvPr id="5" name="TextBox 4"/>
          <p:cNvSpPr txBox="1"/>
          <p:nvPr/>
        </p:nvSpPr>
        <p:spPr>
          <a:xfrm>
            <a:off x="868680" y="3246120"/>
            <a:ext cx="8046720" cy="1188720"/>
          </a:xfrm>
          <a:prstGeom prst="rect">
            <a:avLst/>
          </a:prstGeom>
          <a:noFill/>
        </p:spPr>
        <p:txBody>
          <a:bodyPr wrap="square" anchor="t">
            <a:spAutoFit/>
          </a:bodyPr>
          <a:lstStyle/>
          <a:p>
            <a:pPr algn="l">
              <a:spcAft>
                <a:spcPts val="600"/>
              </a:spcAft>
            </a:pPr>
            <a:r>
              <a:rPr sz="2200" b="0" i="0">
                <a:solidFill>
                  <a:srgbClr val="02C39A"/>
                </a:solidFill>
                <a:latin typeface="Calibri"/>
              </a:rPr>
              <a:t>Compare two groups of single cells. Measure the shift, find the drivers, and decide what to test next.</a:t>
            </a:r>
          </a:p>
        </p:txBody>
      </p:sp>
      <p:sp>
        <p:nvSpPr>
          <p:cNvPr id="6" name="TextBox 5"/>
          <p:cNvSpPr txBox="1"/>
          <p:nvPr/>
        </p:nvSpPr>
        <p:spPr>
          <a:xfrm>
            <a:off x="868680" y="5897880"/>
            <a:ext cx="10058400" cy="548640"/>
          </a:xfrm>
          <a:prstGeom prst="rect">
            <a:avLst/>
          </a:prstGeom>
          <a:noFill/>
        </p:spPr>
        <p:txBody>
          <a:bodyPr wrap="square" anchor="t">
            <a:spAutoFit/>
          </a:bodyPr>
          <a:lstStyle/>
          <a:p>
            <a:pPr algn="l">
              <a:spcAft>
                <a:spcPts val="600"/>
              </a:spcAft>
            </a:pPr>
            <a:r>
              <a:rPr sz="1300" b="0" i="0">
                <a:solidFill>
                  <a:srgbClr val="CADCFC"/>
                </a:solidFill>
                <a:latin typeface="Calibri"/>
              </a:rPr>
              <a:t>Energy distance + optimal transport, differential expression, and grounded Claude prioritization.  Built with Claude: Life Sciences.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698480" cy="868680"/>
          </a:xfrm>
          <a:prstGeom prst="rect">
            <a:avLst/>
          </a:prstGeom>
          <a:noFill/>
        </p:spPr>
        <p:txBody>
          <a:bodyPr wrap="square" anchor="t">
            <a:spAutoFit/>
          </a:bodyPr>
          <a:lstStyle/>
          <a:p>
            <a:pPr algn="l">
              <a:spcAft>
                <a:spcPts val="600"/>
              </a:spcAft>
            </a:pPr>
            <a:r>
              <a:rPr sz="3600" b="1" i="0">
                <a:solidFill>
                  <a:srgbClr val="1A2B34"/>
                </a:solidFill>
                <a:latin typeface="Cambria"/>
              </a:rPr>
              <a:t>The problem</a:t>
            </a:r>
          </a:p>
        </p:txBody>
      </p:sp>
      <p:sp>
        <p:nvSpPr>
          <p:cNvPr id="3" name="Oval 2"/>
          <p:cNvSpPr/>
          <p:nvPr/>
        </p:nvSpPr>
        <p:spPr>
          <a:xfrm>
            <a:off x="8869680" y="2926080"/>
            <a:ext cx="2468880" cy="2468880"/>
          </a:xfrm>
          <a:prstGeom prst="ellipse">
            <a:avLst/>
          </a:prstGeom>
          <a:noFill/>
          <a:ln w="317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058400" y="2926080"/>
            <a:ext cx="2468880" cy="2468880"/>
          </a:xfrm>
          <a:prstGeom prst="ellipse">
            <a:avLst/>
          </a:prstGeom>
          <a:noFill/>
          <a:ln w="31750">
            <a:solidFill>
              <a:srgbClr val="02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7498079" cy="4480560"/>
          </a:xfrm>
          <a:prstGeom prst="rect">
            <a:avLst/>
          </a:prstGeom>
          <a:noFill/>
        </p:spPr>
        <p:txBody>
          <a:bodyPr wrap="square" anchor="t">
            <a:spAutoFit/>
          </a:bodyPr>
          <a:lstStyle/>
          <a:p>
            <a:pPr algn="l">
              <a:spcAft>
                <a:spcPts val="1600"/>
              </a:spcAft>
            </a:pPr>
            <a:r>
              <a:rPr sz="1700" b="0" i="0">
                <a:solidFill>
                  <a:srgbClr val="5A6B73"/>
                </a:solidFill>
                <a:latin typeface="Calibri"/>
              </a:rPr>
              <a:t>Comparing two cell populations is the most common question in single-cell work, and today it is mostly done by hand.</a:t>
            </a:r>
          </a:p>
          <a:p>
            <a:pPr algn="l">
              <a:spcAft>
                <a:spcPts val="1000"/>
              </a:spcAft>
            </a:pPr>
            <a:r>
              <a:rPr sz="1700" b="1" i="0">
                <a:solidFill>
                  <a:srgbClr val="1A2B34"/>
                </a:solidFill>
                <a:latin typeface="Calibri"/>
              </a:rPr>
              <a:t>Two things stay hard:</a:t>
            </a:r>
          </a:p>
          <a:p>
            <a:pPr algn="l">
              <a:spcAft>
                <a:spcPts val="1200"/>
              </a:spcAft>
            </a:pPr>
            <a:r>
              <a:rPr sz="1600" b="0" i="0">
                <a:solidFill>
                  <a:srgbClr val="1A2B34"/>
                </a:solidFill>
                <a:latin typeface="Calibri"/>
              </a:rPr>
              <a:t>1.  Is the difference real, and how big?  A UMAP cannot say, and a table of per-gene p-values does not give you one number for effect size.</a:t>
            </a:r>
          </a:p>
          <a:p>
            <a:pPr algn="l">
              <a:spcAft>
                <a:spcPts val="600"/>
              </a:spcAft>
            </a:pPr>
            <a:r>
              <a:rPr sz="1600" b="0" i="0">
                <a:solidFill>
                  <a:srgbClr val="1A2B34"/>
                </a:solidFill>
                <a:latin typeface="Calibri"/>
              </a:rPr>
              <a:t>2.  Of hundreds of screen hits, which deserve a month at the bench?  Ranking by effect size alone points you at genes everyone already knows.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698480" cy="868680"/>
          </a:xfrm>
          <a:prstGeom prst="rect">
            <a:avLst/>
          </a:prstGeom>
          <a:noFill/>
        </p:spPr>
        <p:txBody>
          <a:bodyPr wrap="square" anchor="t">
            <a:spAutoFit/>
          </a:bodyPr>
          <a:lstStyle/>
          <a:p>
            <a:pPr algn="l">
              <a:spcAft>
                <a:spcPts val="600"/>
              </a:spcAft>
            </a:pPr>
            <a:r>
              <a:rPr sz="3600" b="1" i="0">
                <a:solidFill>
                  <a:srgbClr val="1A2B34"/>
                </a:solidFill>
                <a:latin typeface="Cambria"/>
              </a:rPr>
              <a:t>How it works</a:t>
            </a:r>
          </a:p>
        </p:txBody>
      </p:sp>
      <p:sp>
        <p:nvSpPr>
          <p:cNvPr id="3" name="Rounded Rectangle 2"/>
          <p:cNvSpPr/>
          <p:nvPr/>
        </p:nvSpPr>
        <p:spPr>
          <a:xfrm>
            <a:off x="655167" y="1508760"/>
            <a:ext cx="1554480" cy="749808"/>
          </a:xfrm>
          <a:prstGeom prst="round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FFFFFF"/>
                </a:solidFill>
                <a:latin typeface="Calibri"/>
              </a:rPr>
              <a:t>Load .h5ad</a:t>
            </a:r>
          </a:p>
        </p:txBody>
      </p:sp>
      <p:sp>
        <p:nvSpPr>
          <p:cNvPr id="4" name="Right Arrow 3"/>
          <p:cNvSpPr/>
          <p:nvPr/>
        </p:nvSpPr>
        <p:spPr>
          <a:xfrm>
            <a:off x="2227935" y="1783080"/>
            <a:ext cx="274320" cy="201168"/>
          </a:xfrm>
          <a:prstGeom prst="rightArrow">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520543" y="1508760"/>
            <a:ext cx="1554480" cy="749808"/>
          </a:xfrm>
          <a:prstGeom prst="round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FFFFFF"/>
                </a:solidFill>
                <a:latin typeface="Calibri"/>
              </a:rPr>
              <a:t>Shared PCA</a:t>
            </a:r>
          </a:p>
        </p:txBody>
      </p:sp>
      <p:sp>
        <p:nvSpPr>
          <p:cNvPr id="6" name="Right Arrow 5"/>
          <p:cNvSpPr/>
          <p:nvPr/>
        </p:nvSpPr>
        <p:spPr>
          <a:xfrm>
            <a:off x="4093311" y="1783080"/>
            <a:ext cx="274320" cy="201168"/>
          </a:xfrm>
          <a:prstGeom prst="rightArrow">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85919" y="1508760"/>
            <a:ext cx="1554480" cy="749808"/>
          </a:xfrm>
          <a:prstGeom prst="round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FFFFFF"/>
                </a:solidFill>
                <a:latin typeface="Calibri"/>
              </a:rPr>
              <a:t>Distances</a:t>
            </a:r>
          </a:p>
        </p:txBody>
      </p:sp>
      <p:sp>
        <p:nvSpPr>
          <p:cNvPr id="8" name="Right Arrow 7"/>
          <p:cNvSpPr/>
          <p:nvPr/>
        </p:nvSpPr>
        <p:spPr>
          <a:xfrm>
            <a:off x="5958687" y="1783080"/>
            <a:ext cx="274320" cy="201168"/>
          </a:xfrm>
          <a:prstGeom prst="rightArrow">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51295" y="1508760"/>
            <a:ext cx="1554480" cy="749808"/>
          </a:xfrm>
          <a:prstGeom prst="round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FFFFFF"/>
                </a:solidFill>
                <a:latin typeface="Calibri"/>
              </a:rPr>
              <a:t>Localize</a:t>
            </a:r>
          </a:p>
        </p:txBody>
      </p:sp>
      <p:sp>
        <p:nvSpPr>
          <p:cNvPr id="10" name="Right Arrow 9"/>
          <p:cNvSpPr/>
          <p:nvPr/>
        </p:nvSpPr>
        <p:spPr>
          <a:xfrm>
            <a:off x="7824063" y="1783080"/>
            <a:ext cx="274320" cy="201168"/>
          </a:xfrm>
          <a:prstGeom prst="rightArrow">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116671" y="1508760"/>
            <a:ext cx="1554480" cy="749808"/>
          </a:xfrm>
          <a:prstGeom prst="round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FFFFFF"/>
                </a:solidFill>
                <a:latin typeface="Calibri"/>
              </a:rPr>
              <a:t>Drivers</a:t>
            </a:r>
          </a:p>
        </p:txBody>
      </p:sp>
      <p:sp>
        <p:nvSpPr>
          <p:cNvPr id="12" name="Right Arrow 11"/>
          <p:cNvSpPr/>
          <p:nvPr/>
        </p:nvSpPr>
        <p:spPr>
          <a:xfrm>
            <a:off x="9689439" y="1783080"/>
            <a:ext cx="274320" cy="201168"/>
          </a:xfrm>
          <a:prstGeom prst="rightArrow">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982047" y="1508760"/>
            <a:ext cx="1554480" cy="749808"/>
          </a:xfrm>
          <a:prstGeom prst="round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FFFFFF"/>
                </a:solidFill>
                <a:latin typeface="Calibri"/>
              </a:rPr>
              <a:t>Interpret</a:t>
            </a:r>
          </a:p>
        </p:txBody>
      </p:sp>
      <p:sp>
        <p:nvSpPr>
          <p:cNvPr id="14" name="TextBox 13"/>
          <p:cNvSpPr txBox="1"/>
          <p:nvPr/>
        </p:nvSpPr>
        <p:spPr>
          <a:xfrm>
            <a:off x="822960" y="2788920"/>
            <a:ext cx="5120640" cy="457200"/>
          </a:xfrm>
          <a:prstGeom prst="rect">
            <a:avLst/>
          </a:prstGeom>
          <a:noFill/>
        </p:spPr>
        <p:txBody>
          <a:bodyPr wrap="square" anchor="t">
            <a:spAutoFit/>
          </a:bodyPr>
          <a:lstStyle/>
          <a:p>
            <a:pPr algn="l">
              <a:spcAft>
                <a:spcPts val="600"/>
              </a:spcAft>
            </a:pPr>
            <a:r>
              <a:rPr sz="1800" b="1" i="0">
                <a:solidFill>
                  <a:srgbClr val="028090"/>
                </a:solidFill>
                <a:latin typeface="Calibri"/>
              </a:rPr>
              <a:t>Measuring the shift</a:t>
            </a:r>
          </a:p>
        </p:txBody>
      </p:sp>
      <p:sp>
        <p:nvSpPr>
          <p:cNvPr id="15" name="TextBox 14"/>
          <p:cNvSpPr txBox="1"/>
          <p:nvPr/>
        </p:nvSpPr>
        <p:spPr>
          <a:xfrm>
            <a:off x="822960" y="3291840"/>
            <a:ext cx="5120640" cy="3108960"/>
          </a:xfrm>
          <a:prstGeom prst="rect">
            <a:avLst/>
          </a:prstGeom>
          <a:noFill/>
        </p:spPr>
        <p:txBody>
          <a:bodyPr wrap="square" anchor="t">
            <a:spAutoFit/>
          </a:bodyPr>
          <a:lstStyle/>
          <a:p>
            <a:pPr algn="l">
              <a:spcAft>
                <a:spcPts val="600"/>
              </a:spcAft>
            </a:pPr>
            <a:r>
              <a:rPr sz="1450" b="0" i="0">
                <a:solidFill>
                  <a:srgbClr val="1A2B34"/>
                </a:solidFill>
                <a:latin typeface="Calibri"/>
              </a:rPr>
              <a:t>Everything runs in one PCA space fit on the pooled cells, so the two groups are comparable. The headline metric is the scPerturb energy distance (E-distance), with a label-permutation E-test for significance. MMD (RBF kernel) and Sinkhorn optimal transport (POT) are reported as geometry-aware cross-checks.</a:t>
            </a:r>
          </a:p>
        </p:txBody>
      </p:sp>
      <p:sp>
        <p:nvSpPr>
          <p:cNvPr id="16" name="TextBox 15"/>
          <p:cNvSpPr txBox="1"/>
          <p:nvPr/>
        </p:nvSpPr>
        <p:spPr>
          <a:xfrm>
            <a:off x="6400800" y="2788920"/>
            <a:ext cx="5120640" cy="457200"/>
          </a:xfrm>
          <a:prstGeom prst="rect">
            <a:avLst/>
          </a:prstGeom>
          <a:noFill/>
        </p:spPr>
        <p:txBody>
          <a:bodyPr wrap="square" anchor="t">
            <a:spAutoFit/>
          </a:bodyPr>
          <a:lstStyle/>
          <a:p>
            <a:pPr algn="l">
              <a:spcAft>
                <a:spcPts val="600"/>
              </a:spcAft>
            </a:pPr>
            <a:r>
              <a:rPr sz="1800" b="1" i="0">
                <a:solidFill>
                  <a:srgbClr val="028090"/>
                </a:solidFill>
                <a:latin typeface="Calibri"/>
              </a:rPr>
              <a:t>Where, and what drives it</a:t>
            </a:r>
          </a:p>
        </p:txBody>
      </p:sp>
      <p:sp>
        <p:nvSpPr>
          <p:cNvPr id="17" name="TextBox 16"/>
          <p:cNvSpPr txBox="1"/>
          <p:nvPr/>
        </p:nvSpPr>
        <p:spPr>
          <a:xfrm>
            <a:off x="6400800" y="3291840"/>
            <a:ext cx="5120640" cy="3108960"/>
          </a:xfrm>
          <a:prstGeom prst="rect">
            <a:avLst/>
          </a:prstGeom>
          <a:noFill/>
        </p:spPr>
        <p:txBody>
          <a:bodyPr wrap="square" anchor="t">
            <a:spAutoFit/>
          </a:bodyPr>
          <a:lstStyle/>
          <a:p>
            <a:pPr algn="l">
              <a:spcAft>
                <a:spcPts val="600"/>
              </a:spcAft>
            </a:pPr>
            <a:r>
              <a:rPr sz="1450" b="0" i="0">
                <a:solidFill>
                  <a:srgbClr val="1A2B34"/>
                </a:solidFill>
                <a:latin typeface="Calibri"/>
              </a:rPr>
              <a:t>Leiden clusters the shared latent; a per-cluster Fisher exact test with Benjamini-Hochberg correction flags the clusters that gained or lost query cells. Wilcoxon rank-sum DE inside those clusters gives the driver genes, ranked by the Wilcoxon score among significant hits.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698480" cy="868680"/>
          </a:xfrm>
          <a:prstGeom prst="rect">
            <a:avLst/>
          </a:prstGeom>
          <a:noFill/>
        </p:spPr>
        <p:txBody>
          <a:bodyPr wrap="square" anchor="t">
            <a:spAutoFit/>
          </a:bodyPr>
          <a:lstStyle/>
          <a:p>
            <a:pPr algn="l">
              <a:spcAft>
                <a:spcPts val="600"/>
              </a:spcAft>
            </a:pPr>
            <a:r>
              <a:rPr sz="3600" b="1" i="0">
                <a:solidFill>
                  <a:srgbClr val="1A2B34"/>
                </a:solidFill>
                <a:latin typeface="Cambria"/>
              </a:rPr>
              <a:t>One example, end to end</a:t>
            </a:r>
          </a:p>
        </p:txBody>
      </p:sp>
      <p:sp>
        <p:nvSpPr>
          <p:cNvPr id="3" name="TextBox 2"/>
          <p:cNvSpPr txBox="1"/>
          <p:nvPr/>
        </p:nvSpPr>
        <p:spPr>
          <a:xfrm>
            <a:off x="822960" y="1554480"/>
            <a:ext cx="4480560" cy="4480560"/>
          </a:xfrm>
          <a:prstGeom prst="rect">
            <a:avLst/>
          </a:prstGeom>
          <a:noFill/>
        </p:spPr>
        <p:txBody>
          <a:bodyPr wrap="square" anchor="t">
            <a:spAutoFit/>
          </a:bodyPr>
          <a:lstStyle/>
          <a:p>
            <a:pPr algn="l">
              <a:spcAft>
                <a:spcPts val="1200"/>
              </a:spcAft>
            </a:pPr>
            <a:r>
              <a:rPr sz="1700" b="1" i="0">
                <a:solidFill>
                  <a:srgbClr val="028090"/>
                </a:solidFill>
                <a:latin typeface="Calibri"/>
              </a:rPr>
              <a:t>Control vs IFN-β, CD14+ monocytes (Kang 2018).</a:t>
            </a:r>
          </a:p>
          <a:p>
            <a:pPr algn="l">
              <a:spcAft>
                <a:spcPts val="900"/>
              </a:spcAft>
            </a:pPr>
            <a:r>
              <a:rPr sz="1550" b="0" i="0">
                <a:solidFill>
                  <a:srgbClr val="1A2B34"/>
                </a:solidFill>
                <a:latin typeface="Calibri"/>
              </a:rPr>
              <a:t>•  E-distance 216, permutation p = 0.001. MMD and Sinkhorn agree.</a:t>
            </a:r>
          </a:p>
          <a:p>
            <a:pPr algn="l">
              <a:spcAft>
                <a:spcPts val="900"/>
              </a:spcAft>
            </a:pPr>
            <a:r>
              <a:rPr sz="1550" b="0" i="0">
                <a:solidFill>
                  <a:srgbClr val="1A2B34"/>
                </a:solidFill>
                <a:latin typeface="Calibri"/>
              </a:rPr>
              <a:t>•  Leiden + Fisher/BH: the stimulated cells form their own clusters (log2 enrichment up to +9).</a:t>
            </a:r>
          </a:p>
          <a:p>
            <a:pPr algn="l">
              <a:spcAft>
                <a:spcPts val="900"/>
              </a:spcAft>
            </a:pPr>
            <a:r>
              <a:rPr sz="1550" b="0" i="0">
                <a:solidFill>
                  <a:srgbClr val="1A2B34"/>
                </a:solidFill>
                <a:latin typeface="Calibri"/>
              </a:rPr>
              <a:t>•  Wilcoxon drivers: ISG15, MX1, IFIT1/3, OAS1, the type-I interferon program.</a:t>
            </a:r>
          </a:p>
          <a:p>
            <a:pPr algn="l">
              <a:spcAft>
                <a:spcPts val="600"/>
              </a:spcAft>
            </a:pPr>
            <a:r>
              <a:rPr sz="1550" b="0" i="0">
                <a:solidFill>
                  <a:srgbClr val="1A2B34"/>
                </a:solidFill>
                <a:latin typeface="Calibri"/>
              </a:rPr>
              <a:t>•  Claude writes a short rationale, and every claim cites one of these numbers. The exact prompt and evidence are logged.</a:t>
            </a:r>
          </a:p>
        </p:txBody>
      </p:sp>
      <p:pic>
        <p:nvPicPr>
          <p:cNvPr id="4" name="Picture 3" descr="fig_kang_umap.png"/>
          <p:cNvPicPr>
            <a:picLocks noChangeAspect="1"/>
          </p:cNvPicPr>
          <p:nvPr/>
        </p:nvPicPr>
        <p:blipFill>
          <a:blip r:embed="rId2"/>
          <a:stretch>
            <a:fillRect/>
          </a:stretch>
        </p:blipFill>
        <p:spPr>
          <a:xfrm>
            <a:off x="5394960" y="2514600"/>
            <a:ext cx="6309360" cy="263845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698480" cy="868680"/>
          </a:xfrm>
          <a:prstGeom prst="rect">
            <a:avLst/>
          </a:prstGeom>
          <a:noFill/>
        </p:spPr>
        <p:txBody>
          <a:bodyPr wrap="square" anchor="t">
            <a:spAutoFit/>
          </a:bodyPr>
          <a:lstStyle/>
          <a:p>
            <a:pPr algn="l">
              <a:spcAft>
                <a:spcPts val="600"/>
              </a:spcAft>
            </a:pPr>
            <a:r>
              <a:rPr sz="3200" b="1" i="0">
                <a:solidFill>
                  <a:srgbClr val="1A2B34"/>
                </a:solidFill>
                <a:latin typeface="Cambria"/>
              </a:rPr>
              <a:t>From metric to decision: what to test next</a:t>
            </a:r>
          </a:p>
        </p:txBody>
      </p:sp>
      <p:sp>
        <p:nvSpPr>
          <p:cNvPr id="3" name="TextBox 2"/>
          <p:cNvSpPr txBox="1"/>
          <p:nvPr/>
        </p:nvSpPr>
        <p:spPr>
          <a:xfrm>
            <a:off x="822960" y="1417320"/>
            <a:ext cx="6126480" cy="4572000"/>
          </a:xfrm>
          <a:prstGeom prst="rect">
            <a:avLst/>
          </a:prstGeom>
          <a:noFill/>
        </p:spPr>
        <p:txBody>
          <a:bodyPr wrap="square" anchor="t">
            <a:spAutoFit/>
          </a:bodyPr>
          <a:lstStyle/>
          <a:p>
            <a:pPr algn="l">
              <a:spcAft>
                <a:spcPts val="1100"/>
              </a:spcAft>
            </a:pPr>
            <a:r>
              <a:rPr sz="1600" b="1" i="0">
                <a:solidFill>
                  <a:srgbClr val="028090"/>
                </a:solidFill>
                <a:latin typeface="Calibri"/>
              </a:rPr>
              <a:t>On Marson's genome-scale CD4+ T-cell CRISPR screen (~11k knockouts):</a:t>
            </a:r>
          </a:p>
          <a:p>
            <a:pPr algn="l">
              <a:spcAft>
                <a:spcPts val="900"/>
              </a:spcAft>
            </a:pPr>
            <a:r>
              <a:rPr sz="1500" b="0" i="0">
                <a:solidFill>
                  <a:srgbClr val="1A2B34"/>
                </a:solidFill>
                <a:latin typeface="Calibri"/>
              </a:rPr>
              <a:t>•  Phenotype strength = number of downstream DE genes per knockout.</a:t>
            </a:r>
          </a:p>
          <a:p>
            <a:pPr algn="l">
              <a:spcAft>
                <a:spcPts val="900"/>
              </a:spcAft>
            </a:pPr>
            <a:r>
              <a:rPr sz="1500" b="0" i="0">
                <a:solidFill>
                  <a:srgbClr val="1A2B34"/>
                </a:solidFill>
                <a:latin typeface="Calibri"/>
              </a:rPr>
              <a:t>•  Novelty is grounded, not guessed: a live NCBI PubMed count (E-utilities) of papers on each gene in an immune context. Cached and rate-limited.</a:t>
            </a:r>
          </a:p>
          <a:p>
            <a:pPr algn="l">
              <a:spcAft>
                <a:spcPts val="900"/>
              </a:spcAft>
            </a:pPr>
            <a:r>
              <a:rPr sz="1500" b="0" i="0">
                <a:solidFill>
                  <a:srgbClr val="1A2B34"/>
                </a:solidFill>
                <a:latin typeface="Calibri"/>
              </a:rPr>
              <a:t>•  Claude scores novelty 1–5 and gives a keep/skip verdict with that real count in front of it. Prompt + evidence logged for every call.</a:t>
            </a:r>
          </a:p>
          <a:p>
            <a:pPr algn="l">
              <a:spcAft>
                <a:spcPts val="600"/>
              </a:spcAft>
            </a:pPr>
            <a:r>
              <a:rPr sz="1500" b="0" i="0">
                <a:solidFill>
                  <a:srgbClr val="1A2B34"/>
                </a:solidFill>
                <a:latin typeface="Calibri"/>
              </a:rPr>
              <a:t>•  VAV1, CD45 (hundreds of papers) drop. Strong but obscure SAGA-complex genes (TADA2B, SGF29, ELOF1; 0–4 papers) rise to the top.</a:t>
            </a:r>
          </a:p>
        </p:txBody>
      </p:sp>
      <p:pic>
        <p:nvPicPr>
          <p:cNvPr id="4" name="Picture 3" descr="fig_prioritize.png"/>
          <p:cNvPicPr>
            <a:picLocks noChangeAspect="1"/>
          </p:cNvPicPr>
          <p:nvPr/>
        </p:nvPicPr>
        <p:blipFill>
          <a:blip r:embed="rId2"/>
          <a:stretch>
            <a:fillRect/>
          </a:stretch>
        </p:blipFill>
        <p:spPr>
          <a:xfrm>
            <a:off x="7223760" y="2057400"/>
            <a:ext cx="4480560" cy="33604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698480" cy="868680"/>
          </a:xfrm>
          <a:prstGeom prst="rect">
            <a:avLst/>
          </a:prstGeom>
          <a:noFill/>
        </p:spPr>
        <p:txBody>
          <a:bodyPr wrap="square" anchor="t">
            <a:spAutoFit/>
          </a:bodyPr>
          <a:lstStyle/>
          <a:p>
            <a:pPr algn="l">
              <a:spcAft>
                <a:spcPts val="600"/>
              </a:spcAft>
            </a:pPr>
            <a:r>
              <a:rPr sz="3600" b="1" i="0">
                <a:solidFill>
                  <a:srgbClr val="1A2B34"/>
                </a:solidFill>
                <a:latin typeface="Cambria"/>
              </a:rPr>
              <a:t>Does it hold up?</a:t>
            </a:r>
          </a:p>
        </p:txBody>
      </p:sp>
      <p:pic>
        <p:nvPicPr>
          <p:cNvPr id="3" name="Picture 2" descr="fig_calibration.png"/>
          <p:cNvPicPr>
            <a:picLocks noChangeAspect="1"/>
          </p:cNvPicPr>
          <p:nvPr/>
        </p:nvPicPr>
        <p:blipFill>
          <a:blip r:embed="rId2"/>
          <a:stretch>
            <a:fillRect/>
          </a:stretch>
        </p:blipFill>
        <p:spPr>
          <a:xfrm>
            <a:off x="822960" y="1874519"/>
            <a:ext cx="5577840" cy="3904487"/>
          </a:xfrm>
          <a:prstGeom prst="rect">
            <a:avLst/>
          </a:prstGeom>
        </p:spPr>
      </p:pic>
      <p:sp>
        <p:nvSpPr>
          <p:cNvPr id="4" name="TextBox 3"/>
          <p:cNvSpPr txBox="1"/>
          <p:nvPr/>
        </p:nvSpPr>
        <p:spPr>
          <a:xfrm>
            <a:off x="6675120" y="1783080"/>
            <a:ext cx="5029200" cy="4389120"/>
          </a:xfrm>
          <a:prstGeom prst="rect">
            <a:avLst/>
          </a:prstGeom>
          <a:noFill/>
        </p:spPr>
        <p:txBody>
          <a:bodyPr wrap="square" anchor="t">
            <a:spAutoFit/>
          </a:bodyPr>
          <a:lstStyle/>
          <a:p>
            <a:pPr algn="l">
              <a:spcAft>
                <a:spcPts val="1200"/>
              </a:spcAft>
            </a:pPr>
            <a:r>
              <a:rPr sz="1800" b="1" i="0">
                <a:solidFill>
                  <a:srgbClr val="028090"/>
                </a:solidFill>
                <a:latin typeface="Calibri"/>
              </a:rPr>
              <a:t>We measured where it breaks.</a:t>
            </a:r>
          </a:p>
          <a:p>
            <a:pPr algn="l">
              <a:spcAft>
                <a:spcPts val="900"/>
              </a:spcAft>
            </a:pPr>
            <a:r>
              <a:rPr sz="1500" b="0" i="0">
                <a:solidFill>
                  <a:srgbClr val="1A2B34"/>
                </a:solidFill>
                <a:latin typeface="Calibri"/>
              </a:rPr>
              <a:t>•  Detection power over many random draws, not one lucky p-value.</a:t>
            </a:r>
          </a:p>
          <a:p>
            <a:pPr algn="l">
              <a:spcAft>
                <a:spcPts val="900"/>
              </a:spcAft>
            </a:pPr>
            <a:r>
              <a:rPr sz="1500" b="0" i="0">
                <a:solidFill>
                  <a:srgbClr val="1A2B34"/>
                </a:solidFill>
                <a:latin typeface="Calibri"/>
              </a:rPr>
              <a:t>•  Needs about 100 cells per group for a subtle shift; detects a shift until it is diluted below ~10% of its true size.</a:t>
            </a:r>
          </a:p>
          <a:p>
            <a:pPr algn="l">
              <a:spcAft>
                <a:spcPts val="900"/>
              </a:spcAft>
            </a:pPr>
            <a:r>
              <a:rPr sz="1500" b="0" i="0">
                <a:solidFill>
                  <a:srgbClr val="1A2B34"/>
                </a:solidFill>
                <a:latin typeface="Calibri"/>
              </a:rPr>
              <a:t>•  Validated across four domains (immune, infection, development, cell type) and two real CRISPR screens (Marson, Shifrut), correct distinct biology each time.</a:t>
            </a:r>
          </a:p>
          <a:p>
            <a:pPr algn="l">
              <a:spcAft>
                <a:spcPts val="600"/>
              </a:spcAft>
            </a:pPr>
            <a:r>
              <a:rPr sz="1500" b="0" i="0">
                <a:solidFill>
                  <a:srgbClr val="1A2B34"/>
                </a:solidFill>
                <a:latin typeface="Calibri"/>
              </a:rPr>
              <a:t>•  Distances follow the scPerturb standard (Peidli et al., Nat. Methods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2A38"/>
        </a:solidFill>
        <a:effectLst/>
      </p:bgPr>
    </p:bg>
    <p:spTree>
      <p:nvGrpSpPr>
        <p:cNvPr id="1" name=""/>
        <p:cNvGrpSpPr/>
        <p:nvPr/>
      </p:nvGrpSpPr>
      <p:grpSpPr/>
      <p:sp>
        <p:nvSpPr>
          <p:cNvPr id="2" name="Oval 1"/>
          <p:cNvSpPr/>
          <p:nvPr/>
        </p:nvSpPr>
        <p:spPr>
          <a:xfrm>
            <a:off x="8641080" y="4343400"/>
            <a:ext cx="2103120" cy="2103120"/>
          </a:xfrm>
          <a:prstGeom prst="ellipse">
            <a:avLst/>
          </a:prstGeom>
          <a:noFill/>
          <a:ln w="317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46919" y="4343400"/>
            <a:ext cx="2103120" cy="2103120"/>
          </a:xfrm>
          <a:prstGeom prst="ellipse">
            <a:avLst/>
          </a:prstGeom>
          <a:noFill/>
          <a:ln w="31750">
            <a:solidFill>
              <a:srgbClr val="02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74519"/>
            <a:ext cx="10515600" cy="1645920"/>
          </a:xfrm>
          <a:prstGeom prst="rect">
            <a:avLst/>
          </a:prstGeom>
          <a:noFill/>
        </p:spPr>
        <p:txBody>
          <a:bodyPr wrap="square" anchor="t">
            <a:spAutoFit/>
          </a:bodyPr>
          <a:lstStyle/>
          <a:p>
            <a:pPr algn="l">
              <a:spcAft>
                <a:spcPts val="600"/>
              </a:spcAft>
            </a:pPr>
            <a:r>
              <a:rPr sz="3400" b="1" i="0">
                <a:solidFill>
                  <a:srgbClr val="FFFFFF"/>
                </a:solidFill>
                <a:latin typeface="Cambria"/>
              </a:rPr>
              <a:t>Turn “these look different” into “test this gene next.”</a:t>
            </a:r>
          </a:p>
        </p:txBody>
      </p:sp>
      <p:sp>
        <p:nvSpPr>
          <p:cNvPr id="5" name="TextBox 4"/>
          <p:cNvSpPr txBox="1"/>
          <p:nvPr/>
        </p:nvSpPr>
        <p:spPr>
          <a:xfrm>
            <a:off x="868680" y="3429000"/>
            <a:ext cx="10058400" cy="640080"/>
          </a:xfrm>
          <a:prstGeom prst="rect">
            <a:avLst/>
          </a:prstGeom>
          <a:noFill/>
        </p:spPr>
        <p:txBody>
          <a:bodyPr wrap="square" anchor="t">
            <a:spAutoFit/>
          </a:bodyPr>
          <a:lstStyle/>
          <a:p>
            <a:pPr algn="l">
              <a:spcAft>
                <a:spcPts val="600"/>
              </a:spcAft>
            </a:pPr>
            <a:r>
              <a:rPr sz="1800" b="0" i="0">
                <a:solidFill>
                  <a:srgbClr val="02C39A"/>
                </a:solidFill>
                <a:latin typeface="Calibri"/>
              </a:rPr>
              <a:t>Any two cell populations. Python, scanpy, POT, NCBI E-utilities, Claude (Anthropic SDK). Runs in Colab. MIT.</a:t>
            </a:r>
          </a:p>
        </p:txBody>
      </p:sp>
      <p:sp>
        <p:nvSpPr>
          <p:cNvPr id="6" name="TextBox 5"/>
          <p:cNvSpPr txBox="1"/>
          <p:nvPr/>
        </p:nvSpPr>
        <p:spPr>
          <a:xfrm>
            <a:off x="868680" y="5943600"/>
            <a:ext cx="10058400" cy="457200"/>
          </a:xfrm>
          <a:prstGeom prst="rect">
            <a:avLst/>
          </a:prstGeom>
          <a:noFill/>
        </p:spPr>
        <p:txBody>
          <a:bodyPr wrap="square" anchor="t">
            <a:spAutoFit/>
          </a:bodyPr>
          <a:lstStyle/>
          <a:p>
            <a:pPr algn="l">
              <a:spcAft>
                <a:spcPts val="600"/>
              </a:spcAft>
            </a:pPr>
            <a:r>
              <a:rPr sz="1500" b="0" i="0">
                <a:solidFill>
                  <a:srgbClr val="CADCFC"/>
                </a:solidFill>
                <a:latin typeface="Calibri"/>
              </a:rPr>
              <a:t>github.com/aenorhabditis6/claude_science_hackathon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